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80560" y="12801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60A5FA"/>
                </a:solidFill>
                <a:latin typeface="Malgun Gothic"/>
              </a:rPr>
              <a:t>행감바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49240" y="12801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4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4D399"/>
                </a:solidFill>
                <a:latin typeface="Malgun Gothic"/>
              </a:rPr>
              <a:t>인사약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대화의 두 가지 무기</a:t>
            </a:r>
          </a:p>
          <a:p>
            <a:pPr algn="ctr">
              <a:spcAft>
                <a:spcPts val="0"/>
              </a:spcAft>
            </a:pPr>
            <a:r>
              <a:rPr sz="5200" b="1">
                <a:solidFill>
                  <a:srgbClr val="60A5FA"/>
                </a:solidFill>
                <a:latin typeface="Malgun Gothic"/>
              </a:rPr>
              <a:t>행감바 &amp; 인사약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457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CBD5E1"/>
                </a:solidFill>
                <a:latin typeface="Malgun Gothic"/>
              </a:rPr>
              <a:t>감정을 다치지 않게 요청하고, 진심이 전해지도록 사과하는 연습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오늘 연습할 두 가지 공식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5029200" cy="4206240"/>
          </a:xfrm>
          <a:prstGeom prst="roundRect">
            <a:avLst/>
          </a:prstGeom>
          <a:solidFill>
            <a:srgbClr val="15223B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43891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60A5FA"/>
                </a:solidFill>
                <a:latin typeface="Malgun Gothic"/>
              </a:rPr>
              <a:t>행감바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Malgun Gothic"/>
              </a:rPr>
              <a:t>불편함을 비난 없이 전하고 원하는 것을 요청할 때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60A5FA"/>
                </a:solidFill>
                <a:latin typeface="Malgun Gothic"/>
              </a:rPr>
              <a:t>행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동 — 사실만 말한다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60A5FA"/>
                </a:solidFill>
                <a:latin typeface="Malgun Gothic"/>
              </a:rPr>
              <a:t>감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정 — 내 느낌을 말한다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60A5FA"/>
                </a:solidFill>
                <a:latin typeface="Malgun Gothic"/>
              </a:rPr>
              <a:t>바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람 — 원하는 것을 말한다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029200" cy="4206240"/>
          </a:xfrm>
          <a:prstGeom prst="roundRect">
            <a:avLst/>
          </a:prstGeom>
          <a:solidFill>
            <a:srgbClr val="0F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65960"/>
            <a:ext cx="43891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Malgun Gothic"/>
              </a:rPr>
              <a:t>인사약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BD5E1"/>
                </a:solidFill>
                <a:latin typeface="Malgun Gothic"/>
              </a:rPr>
              <a:t>잘못했을 때 진심이 전해지게 사과할 때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34D399"/>
                </a:solidFill>
                <a:latin typeface="Malgun Gothic"/>
              </a:rPr>
              <a:t>인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정 — 무엇을 잘못했는지 인정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34D399"/>
                </a:solidFill>
                <a:latin typeface="Malgun Gothic"/>
              </a:rPr>
              <a:t>사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과 — 진심으로 사과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34D399"/>
                </a:solidFill>
                <a:latin typeface="Malgun Gothic"/>
              </a:rPr>
              <a:t>약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속 — 앞으로 어떻게 할지 약속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920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60A5FA"/>
                </a:solidFill>
                <a:latin typeface="Malgun Gothic"/>
              </a:rPr>
              <a:t>PART 1 · 행감바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행동 → 감정 → 바람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148840"/>
            <a:ext cx="92354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233172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258568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B82F6"/>
                </a:solidFill>
                <a:latin typeface="Malgun Gothic"/>
              </a:rPr>
              <a:t>행동 (사실)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평가·비난 없이 '일어난 일'만.  "네가 항상~"(X) → "어제 3시에~"(O)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383280"/>
            <a:ext cx="92354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356616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493008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B82F6"/>
                </a:solidFill>
                <a:latin typeface="Malgun Gothic"/>
              </a:rPr>
              <a:t>감정 (나-전달법)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"너 때문에"(X) → "나는 ~하게 느꼈어"(O)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617720"/>
            <a:ext cx="92354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480060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4727448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B82F6"/>
                </a:solidFill>
                <a:latin typeface="Malgun Gothic"/>
              </a:rPr>
              <a:t>바람 (구체적 요청)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막연한 불만(X) → "앞으로 ~해주면 좋겠어"(O)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행감바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3291840"/>
          </a:xfrm>
          <a:prstGeom prst="roundRect">
            <a:avLst/>
          </a:prstGeom>
          <a:solidFill>
            <a:srgbClr val="2E1618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44348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87171"/>
                </a:solidFill>
                <a:latin typeface="Malgun Gothic"/>
              </a:rPr>
              <a:t>✗ 이렇게 말하면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"너는 왜 맨날 연락도 없이 늦어? 진짜 나 무시하는 거야?"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029200" cy="3291840"/>
          </a:xfrm>
          <a:prstGeom prst="roundRect">
            <a:avLst/>
          </a:prstGeom>
          <a:solidFill>
            <a:srgbClr val="0F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74519"/>
            <a:ext cx="44348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Malgun Gothic"/>
              </a:rPr>
              <a:t>✓ 행감바로 바꾸면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60A5FA"/>
                </a:solidFill>
                <a:latin typeface="Malgun Gothic"/>
              </a:rPr>
              <a:t>[행] </a:t>
            </a:r>
            <a:r>
              <a:rPr sz="1500" b="0">
                <a:solidFill>
                  <a:srgbClr val="FFFFFF"/>
                </a:solidFill>
                <a:latin typeface="Malgun Gothic"/>
              </a:rPr>
              <a:t>오늘 약속보다 30분 늦게 왔는데 연락이 없었어.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60A5FA"/>
                </a:solidFill>
                <a:latin typeface="Malgun Gothic"/>
              </a:rPr>
              <a:t>[감] </a:t>
            </a:r>
            <a:r>
              <a:rPr sz="1500" b="0">
                <a:solidFill>
                  <a:srgbClr val="FFFFFF"/>
                </a:solidFill>
                <a:latin typeface="Malgun Gothic"/>
              </a:rPr>
              <a:t>나는 기다리면서 좀 서운하고 걱정됐어.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60A5FA"/>
                </a:solidFill>
                <a:latin typeface="Malgun Gothic"/>
              </a:rPr>
              <a:t>[바] </a:t>
            </a:r>
            <a:r>
              <a:rPr sz="1500" b="0">
                <a:solidFill>
                  <a:srgbClr val="FFFFFF"/>
                </a:solidFill>
                <a:latin typeface="Malgun Gothic"/>
              </a:rPr>
              <a:t>다음엔 늦으면 미리 문자 한 통만 줄 수 있을까?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algun Gothic"/>
              </a:rPr>
              <a:t>핵심: 상대의 인격이 아니라 상황과 내 감정에 대해 말한다.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920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60A5FA"/>
                </a:solidFill>
                <a:latin typeface="Malgun Gothic"/>
              </a:rPr>
              <a:t>연습 시간 · 행감바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algun Gothic"/>
              </a:rPr>
              <a:t>직접 채워보세요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Malgun Gothic"/>
              </a:rPr>
              <a:t>상황: </a:t>
            </a:r>
            <a:r>
              <a:rPr sz="1600" b="1">
                <a:solidFill>
                  <a:srgbClr val="FFFFFF"/>
                </a:solidFill>
                <a:latin typeface="Malgun Gothic"/>
              </a:rPr>
              <a:t>팀 프로젝트에서 동료가 자기 파트를 마감까지 안 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468880"/>
            <a:ext cx="9235440" cy="3291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69748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9748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82F6"/>
                </a:solidFill>
                <a:latin typeface="Malgun Gothic"/>
              </a:rPr>
              <a:t>행동 (사실만)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264408"/>
            <a:ext cx="7498079" cy="0"/>
          </a:xfrm>
          <a:prstGeom prst="rect">
            <a:avLst/>
          </a:prstGeom>
          <a:noFill/>
          <a:ln w="15875">
            <a:solidFill>
              <a:srgbClr val="94A3B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365760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5760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82F6"/>
                </a:solidFill>
                <a:latin typeface="Malgun Gothic"/>
              </a:rPr>
              <a:t>감정 (나는 ~게 느꼈어)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224528"/>
            <a:ext cx="7498079" cy="0"/>
          </a:xfrm>
          <a:prstGeom prst="rect">
            <a:avLst/>
          </a:prstGeom>
          <a:noFill/>
          <a:ln w="15875">
            <a:solidFill>
              <a:srgbClr val="94A3B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4617720"/>
            <a:ext cx="685800" cy="6858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1772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B82F6"/>
                </a:solidFill>
                <a:latin typeface="Malgun Gothic"/>
              </a:rPr>
              <a:t>바람 (앞으로 ~해주면)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5184648"/>
            <a:ext cx="7498079" cy="0"/>
          </a:xfrm>
          <a:prstGeom prst="rect">
            <a:avLst/>
          </a:prstGeom>
          <a:noFill/>
          <a:ln w="15875">
            <a:solidFill>
              <a:srgbClr val="94A3B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</a:rPr>
              <a:t>소리 내어 말해본 뒤 다음 슬라이드에서 예시 답안을 확인하세요.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DE047"/>
                </a:solidFill>
                <a:latin typeface="Malgun Gothic"/>
              </a:rPr>
              <a:t>💡 예시 답안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828800"/>
            <a:ext cx="9235440" cy="3017520"/>
          </a:xfrm>
          <a:prstGeom prst="roundRect">
            <a:avLst/>
          </a:prstGeom>
          <a:solidFill>
            <a:srgbClr val="0F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194560"/>
            <a:ext cx="83210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60A5FA"/>
                </a:solidFill>
                <a:latin typeface="Malgun Gothic"/>
              </a:rPr>
              <a:t>[행] 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이번 발표 자료에서 네 파트가 마감일까지 올라오지 않았어.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60A5FA"/>
                </a:solidFill>
                <a:latin typeface="Malgun Gothic"/>
              </a:rPr>
              <a:t>[감] 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나는 마감을 못 맞출까 봐 많이 불안하고 부담됐어.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60A5FA"/>
                </a:solidFill>
                <a:latin typeface="Malgun Gothic"/>
              </a:rPr>
              <a:t>[바] 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다음부터는 어려우면 하루 전에라도 미리 알려주면 같이 조정할 수 있을 것 같아.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algun Gothic"/>
              </a:rPr>
              <a:t>정답은 없습니다. 사실 → 내 감정 → 구체적 요청 순서만 지키면 성공!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920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4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4D399"/>
                </a:solidFill>
                <a:latin typeface="Malgun Gothic"/>
              </a:rPr>
              <a:t>PART 2 · 인사약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인정 → 사과 → 약속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2148840"/>
            <a:ext cx="92354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233172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258568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Malgun Gothic"/>
              </a:rPr>
              <a:t>인정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무엇을 잘못했는지 구체적으로 인정.  "미안한데~"(X) → "내가 ~한 건 잘못이야"(O)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383280"/>
            <a:ext cx="92354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356616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3493008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Malgun Gothic"/>
              </a:rPr>
              <a:t>사과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변명·"하지만" 없이 진심으로. 상대의 감정을 헤아리며.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617720"/>
            <a:ext cx="92354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480060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4727448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Malgun Gothic"/>
              </a:rPr>
              <a:t>약속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앞으로 어떻게 다르게 행동할지 구체적 약속.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Malgun Gothic"/>
              </a:rPr>
              <a:t>인사약 예시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029200" cy="3291840"/>
          </a:xfrm>
          <a:prstGeom prst="roundRect">
            <a:avLst/>
          </a:prstGeom>
          <a:solidFill>
            <a:srgbClr val="2E1618"/>
          </a:solidFill>
          <a:ln w="1587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44348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87171"/>
                </a:solidFill>
                <a:latin typeface="Malgun Gothic"/>
              </a:rPr>
              <a:t>✗ 이런 사과는 역효과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algun Gothic"/>
              </a:rPr>
              <a:t>"미안, 근데 너도 그럴 만했잖아. 아무튼 미안하다고."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029200" cy="3291840"/>
          </a:xfrm>
          <a:prstGeom prst="roundRect">
            <a:avLst/>
          </a:prstGeom>
          <a:solidFill>
            <a:srgbClr val="0F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874519"/>
            <a:ext cx="443484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Malgun Gothic"/>
              </a:rPr>
              <a:t>✓ 인사약으로 바꾸면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Malgun Gothic"/>
              </a:rPr>
              <a:t>[인] </a:t>
            </a:r>
            <a:r>
              <a:rPr sz="1500" b="0">
                <a:solidFill>
                  <a:srgbClr val="FFFFFF"/>
                </a:solidFill>
                <a:latin typeface="Malgun Gothic"/>
              </a:rPr>
              <a:t>내가 사람들 앞에서 네 실수를 지적한 건 잘못이었어.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Malgun Gothic"/>
              </a:rPr>
              <a:t>[사] </a:t>
            </a:r>
            <a:r>
              <a:rPr sz="1500" b="0">
                <a:solidFill>
                  <a:srgbClr val="FFFFFF"/>
                </a:solidFill>
                <a:latin typeface="Malgun Gothic"/>
              </a:rPr>
              <a:t>창피하고 속상하게 만들어서 정말 미안해.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>
                <a:solidFill>
                  <a:srgbClr val="34D399"/>
                </a:solidFill>
                <a:latin typeface="Malgun Gothic"/>
              </a:rPr>
              <a:t>[약] </a:t>
            </a:r>
            <a:r>
              <a:rPr sz="1500" b="0">
                <a:solidFill>
                  <a:srgbClr val="FFFFFF"/>
                </a:solidFill>
                <a:latin typeface="Malgun Gothic"/>
              </a:rPr>
              <a:t>앞으로 할 말이 있으면 따로 조용히 말할게.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algun Gothic"/>
              </a:rPr>
              <a:t>금지어: "하지만", "네가 ~했으니까" — 변명은 사과를 무효로 만든다.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9204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44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34D399"/>
                </a:solidFill>
                <a:latin typeface="Malgun Gothic"/>
              </a:rPr>
              <a:t>연습 시간 · 인사약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Malgun Gothic"/>
              </a:rPr>
              <a:t>직접 채워보세요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Malgun Gothic"/>
              </a:rPr>
              <a:t>상황: </a:t>
            </a:r>
            <a:r>
              <a:rPr sz="1600" b="1">
                <a:solidFill>
                  <a:srgbClr val="FFFFFF"/>
                </a:solidFill>
                <a:latin typeface="Malgun Gothic"/>
              </a:rPr>
              <a:t>바빠서 친구의 중요한 부탁을 깜빡하고 못 들어줬다.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468880"/>
            <a:ext cx="9235440" cy="3291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69748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9748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Malgun Gothic"/>
              </a:rPr>
              <a:t>인정 (내가 ~한 건 잘못이야)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3264408"/>
            <a:ext cx="7498079" cy="0"/>
          </a:xfrm>
          <a:prstGeom prst="rect">
            <a:avLst/>
          </a:prstGeom>
          <a:noFill/>
          <a:ln w="15875">
            <a:solidFill>
              <a:srgbClr val="94A3B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8800" y="365760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5760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Malgun Gothic"/>
              </a:rPr>
              <a:t>사과 (진심으로, 변명 없이)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4224528"/>
            <a:ext cx="7498079" cy="0"/>
          </a:xfrm>
          <a:prstGeom prst="rect">
            <a:avLst/>
          </a:prstGeom>
          <a:noFill/>
          <a:ln w="15875">
            <a:solidFill>
              <a:srgbClr val="94A3B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461772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17720"/>
            <a:ext cx="7589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0B981"/>
                </a:solidFill>
                <a:latin typeface="Malgun Gothic"/>
              </a:rPr>
              <a:t>약속 (앞으로 ~할게)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5184648"/>
            <a:ext cx="7498079" cy="0"/>
          </a:xfrm>
          <a:prstGeom prst="rect">
            <a:avLst/>
          </a:prstGeom>
          <a:noFill/>
          <a:ln w="15875">
            <a:solidFill>
              <a:srgbClr val="94A3B8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</a:rPr>
              <a:t>소리 내어 말해본 뒤 다음 슬라이드에서 예시 답안을 확인하세요.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FDE047"/>
                </a:solidFill>
                <a:latin typeface="Malgun Gothic"/>
              </a:rPr>
              <a:t>💡 예시 답안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828800"/>
            <a:ext cx="9235440" cy="3017520"/>
          </a:xfrm>
          <a:prstGeom prst="roundRect">
            <a:avLst/>
          </a:prstGeom>
          <a:solidFill>
            <a:srgbClr val="0F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194560"/>
            <a:ext cx="83210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34D399"/>
                </a:solidFill>
                <a:latin typeface="Malgun Gothic"/>
              </a:rPr>
              <a:t>[인] 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네가 부탁한 걸 내가 깜빡하고 안 챙긴 건 명백히 내 잘못이야.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34D399"/>
                </a:solidFill>
                <a:latin typeface="Malgun Gothic"/>
              </a:rPr>
              <a:t>[사] 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너한테 중요한 일이었는데 실망시켜서 진심으로 미안해.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34D399"/>
                </a:solidFill>
                <a:latin typeface="Malgun Gothic"/>
              </a:rPr>
              <a:t>[약] </a:t>
            </a:r>
            <a:r>
              <a:rPr sz="1900" b="0">
                <a:solidFill>
                  <a:srgbClr val="FFFFFF"/>
                </a:solidFill>
                <a:latin typeface="Malgun Gothic"/>
              </a:rPr>
              <a:t>앞으로 부탁받으면 바로 메모하고, 오늘 일은 지금 바로 도와줄게.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algun Gothic"/>
              </a:rPr>
              <a:t>진심 어린 사과는 변명 대신 책임, 말 대신 행동으로 끝맺는다.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92040" y="5029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4D4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DE047"/>
                </a:solidFill>
                <a:latin typeface="Malgun Gothic"/>
              </a:rPr>
              <a:t>롤플레이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Malgun Gothic"/>
              </a:rPr>
              <a:t>2인 1조 실전 연습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52044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146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algun Gothic"/>
              </a:rPr>
              <a:t>🕐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60A5FA"/>
                </a:solidFill>
                <a:latin typeface="Malgun Gothic"/>
              </a:rPr>
              <a:t>상황 카드 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룸메이트가 설거지를 계속 안 한다. → 행감바로 말하기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286000"/>
            <a:ext cx="352044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5146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algun Gothic"/>
              </a:rPr>
              <a:t>📱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34D399"/>
                </a:solidFill>
                <a:latin typeface="Malgun Gothic"/>
              </a:rPr>
              <a:t>상황 카드 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약속을 잊고 상대를 바람맞혔다. → 인사약으로 사과하기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286000"/>
            <a:ext cx="3520440" cy="26517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5146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Malgun Gothic"/>
              </a:rPr>
              <a:t>💬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DE047"/>
                </a:solidFill>
                <a:latin typeface="Malgun Gothic"/>
              </a:rPr>
              <a:t>상황 카드 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Malgun Gothic"/>
              </a:rPr>
              <a:t>말다툼 후 화해. → 인사약 먼저, 이어서 행감바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Malgun Gothic"/>
              </a:rPr>
              <a:t>한 명은 말하고, 한 명은 듣고 피드백. 각 30초씩 말한 뒤 역할을 바꿔보세요.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오늘의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828800"/>
            <a:ext cx="4572000" cy="2286000"/>
          </a:xfrm>
          <a:prstGeom prst="roundRect">
            <a:avLst/>
          </a:prstGeom>
          <a:solidFill>
            <a:srgbClr val="15223B"/>
          </a:solidFill>
          <a:ln w="1587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4023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60A5FA"/>
                </a:solidFill>
                <a:latin typeface="Malgun Gothic"/>
              </a:rPr>
              <a:t>행감바 = 요청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</a:rPr>
              <a:t>행동 · 감정 · 바람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</a:rPr>
              <a:t>비난하지 않고 내 마음을 전한다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28800"/>
            <a:ext cx="4572000" cy="2286000"/>
          </a:xfrm>
          <a:prstGeom prst="roundRect">
            <a:avLst/>
          </a:prstGeom>
          <a:solidFill>
            <a:srgbClr val="0F2A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103120"/>
            <a:ext cx="4023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34D399"/>
                </a:solidFill>
                <a:latin typeface="Malgun Gothic"/>
              </a:rPr>
              <a:t>인사약 = 사과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Malgun Gothic"/>
              </a:rPr>
              <a:t>인정 · 사과 · 약속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</a:rPr>
              <a:t>변명하지 않고 관계를 회복한다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6015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좋은 대화는 재능이 아니라 연습입니다.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Malgun Gothic"/>
              </a:rPr>
              <a:t>오늘 배운 공식을 이번 주 실제 대화에서 한 번 써보세요!</a:t>
            </a:r>
          </a:p>
          <a:p>
            <a:pPr algn="ctr">
              <a:spcBef>
                <a:spcPts val="1400"/>
              </a:spcBef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Malgun Gothic"/>
              </a:rPr>
              <a:t>감사합니다 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